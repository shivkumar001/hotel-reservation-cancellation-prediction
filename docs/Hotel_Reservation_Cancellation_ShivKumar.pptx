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LightGBM</c:v>
                  </c:pt>
                  <c:pt idx="3">
                    <c:v>Dec. Tree</c:v>
                  </c:pt>
                  <c:pt idx="4">
                    <c:v>Log. Reg.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0.957</c:v>
                </c:pt>
                <c:pt idx="1">
                  <c:v>0.955</c:v>
                </c:pt>
                <c:pt idx="2">
                  <c:v>0.954</c:v>
                </c:pt>
                <c:pt idx="3">
                  <c:v>0.933</c:v>
                </c:pt>
                <c:pt idx="4">
                  <c:v>0.871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9525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LightGBM</c:v>
                  </c:pt>
                  <c:pt idx="3">
                    <c:v>Dec. Tree</c:v>
                  </c:pt>
                  <c:pt idx="4">
                    <c:v>Log. Reg.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0.905</c:v>
                </c:pt>
                <c:pt idx="1">
                  <c:v>0.899</c:v>
                </c:pt>
                <c:pt idx="2">
                  <c:v>0.896</c:v>
                </c:pt>
                <c:pt idx="3">
                  <c:v>0.879</c:v>
                </c:pt>
                <c:pt idx="4">
                  <c:v>0.812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9525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 REPORT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Reservation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Prediction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Guest Cancellations Using Machine Learning Classification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 Kumar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36499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36,275 Hotel Bookings  |  17 Features  |  Binary Classification Task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069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36,275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4507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33472" y="39776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4069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33472" y="4507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6864" y="39776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4069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26864" y="4507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0256" y="39776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4069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0256" y="4507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47218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721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4447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5564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objective, business value &amp; dataset 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276856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768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24942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preprocessing, EDA, feature 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081528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81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05409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3649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classifiers, cross-validation, train-test split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85616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88620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886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8587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169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performance, SHAP explainability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9028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69087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6908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4663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497433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business recommendations &amp; future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</a:t>
            </a:r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468880" cy="3291840"/>
          </a:xfrm>
          <a:prstGeom prst="roundRect">
            <a:avLst>
              <a:gd name="adj" fmla="val 2963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32.8%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End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Correlation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Cancellation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Segments Analyzed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cancellations quietly drain hotel revenue and disrupt operations.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1920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36,275 bookings spanning multiple market segments, room types and guest profiles, cancellations arrive with little warning — leaving rooms unsold or resold at a discount.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560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factors — lead time, guest composition, market segment and repeat-guest status — interact in ways a simple rule-of-thumb cannot capture, but a classification model can learn.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42900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8F8F5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35661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classification model that accurately predicts which reservations are likely to be cancelled — enabling proactive revenue management, smarter overbooking, and targeted guest retention.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</a:t>
            </a:r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Data Description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190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71907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comprehensive EDA to understand cancellation drivers &amp; feature relationships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57200" y="23225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2257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 — total_nights, total_guests, price_per_guest, is_high_lead_time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5 classifiers: Logistic Regression, Decision Tree, Random Forest, LightGBM, XGBoost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57200" y="352958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52958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on Accuracy, Precision, Recall, F1 and ROC-AUC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57200" y="41330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13308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for model explainability &amp; actionable business insights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66344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1719072"/>
            <a:ext cx="4023360" cy="512064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719072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171907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36,275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023360" cy="512064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28600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20840" y="2286000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852928"/>
            <a:ext cx="4023360" cy="512064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5292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20840" y="2852928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booking_status (binary)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419856"/>
            <a:ext cx="4023360" cy="512064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419856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20840" y="3419856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0 across all columns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986784"/>
            <a:ext cx="4023360" cy="512064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986784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0840" y="3986784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4553712"/>
            <a:ext cx="4023360" cy="512064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553712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Groups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4553712"/>
            <a:ext cx="187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Guest, Stay, Booking Timing, History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</a:t>
            </a:r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Data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90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4356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Irrelevant Columns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34440" y="172821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Booking_ID — a unique identifier with no predictive signal, preventing target leakage.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919472" y="1490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4356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 Handling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32120" y="172821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across all 17 features and the target — no imputation strategy required.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5968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Review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34440" y="288950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 and avg_price_per_room are right-skewed; scaling applied for Logistic Regression only.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754880" y="2487168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19472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25968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32120" y="288950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total_nights, total_guests, has_previous_cancellation, is_high_lead_time &amp; price_per_guest.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57200" y="3648456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38130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37581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234440" y="40507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for meal plan, room type &amp; market segment. StandardScaler applied for Logistic Regression.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4754880" y="3648456"/>
            <a:ext cx="411480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4919472" y="38130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37581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532120" y="405079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(random_state=42) — preserves the 32.8% cancellation ratio in both sets.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</a:t>
            </a:r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EDA 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956816" cy="658368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5331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32.8%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007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532888" y="1298448"/>
            <a:ext cx="1956816" cy="658368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2532888" y="135331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32888" y="17007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 (Canceled)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608576" y="1298448"/>
            <a:ext cx="1956816" cy="658368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35331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8576" y="17007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Segment Cancel Rate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684264" y="1298448"/>
            <a:ext cx="1956816" cy="658368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6684264" y="1353312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84264" y="170078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Repeat-Guest Cancel Rate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4041648" cy="1417320"/>
          </a:xfrm>
          <a:prstGeom prst="roundRect">
            <a:avLst>
              <a:gd name="adj" fmla="val 4516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331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2313432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Time &amp; Cancellation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2624328"/>
            <a:ext cx="3081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climbs from 8.9% (0-7 days out) to 73.9% (180+ days out) — the strongest single driver in the data.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645152" y="2148840"/>
            <a:ext cx="4041648" cy="1417320"/>
          </a:xfrm>
          <a:prstGeom prst="roundRect">
            <a:avLst>
              <a:gd name="adj" fmla="val 4516"/>
            </a:avLst>
          </a:prstGeom>
          <a:solidFill>
            <a:srgbClr val="F5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28032" y="2331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2392" y="2313432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Segment Effect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22392" y="2624328"/>
            <a:ext cx="3081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bookings cancel at 36.5% vs 10.9% for Corporate and 0% for Complementary — lower booking friction, less commitment.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57200" y="3712464"/>
            <a:ext cx="4041648" cy="1417320"/>
          </a:xfrm>
          <a:prstGeom prst="roundRect">
            <a:avLst>
              <a:gd name="adj" fmla="val 4516"/>
            </a:avLst>
          </a:prstGeom>
          <a:solidFill>
            <a:srgbClr val="F5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8953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34440" y="3877056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Loyalty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187952"/>
            <a:ext cx="3081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guests cancel only 1.7% of the time vs 33.6% for new guests — loyalty is strongly protective against cancellation.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4645152" y="3712464"/>
            <a:ext cx="4041648" cy="1417320"/>
          </a:xfrm>
          <a:prstGeom prst="roundRect">
            <a:avLst>
              <a:gd name="adj" fmla="val 4516"/>
            </a:avLst>
          </a:prstGeom>
          <a:solidFill>
            <a:srgbClr val="F5F7FA"/>
          </a:solidFill>
          <a:ln/>
        </p:spPr>
      </p:sp>
      <p:sp>
        <p:nvSpPr>
          <p:cNvPr id="32" name="Shape 30"/>
          <p:cNvSpPr/>
          <p:nvPr/>
        </p:nvSpPr>
        <p:spPr>
          <a:xfrm>
            <a:off x="4828032" y="38953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33" name="Text 31"/>
          <p:cNvSpPr/>
          <p:nvPr/>
        </p:nvSpPr>
        <p:spPr>
          <a:xfrm>
            <a:off x="4828032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22392" y="3877056"/>
            <a:ext cx="3081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Requests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22392" y="4187952"/>
            <a:ext cx="3081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bookings average just 0.33 special requests vs 0.76 for completed stays — engagement signals lower cancel risk.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</a:t>
            </a:r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Modelling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 →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(29,020 records) + 20% Testing (7,255 records)  |  Stratified  |  Random State = 42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1536192" cy="1078992"/>
          </a:xfrm>
          <a:prstGeom prst="roundRect">
            <a:avLst>
              <a:gd name="adj" fmla="val 6780"/>
            </a:avLst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50008"/>
            <a:ext cx="1536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05740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03120" y="2350008"/>
            <a:ext cx="1536192" cy="1078992"/>
          </a:xfrm>
          <a:prstGeom prst="roundRect">
            <a:avLst>
              <a:gd name="adj" fmla="val 678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2350008"/>
            <a:ext cx="1536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05740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2350008"/>
            <a:ext cx="1536192" cy="1078992"/>
          </a:xfrm>
          <a:prstGeom prst="roundRect">
            <a:avLst>
              <a:gd name="adj" fmla="val 678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350008"/>
            <a:ext cx="1536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205740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2350008"/>
            <a:ext cx="1536192" cy="1078992"/>
          </a:xfrm>
          <a:prstGeom prst="roundRect">
            <a:avLst>
              <a:gd name="adj" fmla="val 6780"/>
            </a:avLst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350008"/>
            <a:ext cx="1536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2057400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40880" y="2350008"/>
            <a:ext cx="1536192" cy="1078992"/>
          </a:xfrm>
          <a:prstGeom prst="roundRect">
            <a:avLst>
              <a:gd name="adj" fmla="val 6780"/>
            </a:avLst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2350008"/>
            <a:ext cx="1536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3931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Hyperparameter Tuning: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(3-fold CV) applied to Random Forest — tuning n_estimators, max_depth, min_samples_split and min_samples_leaf.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0740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Used:  </a:t>
            </a:r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|  Precision  |  Recall  |  F1-Score  |  ROC-AUC  |  Confusion Matrix  |  SHAP Explainability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</a:t>
            </a:r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Performance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834640"/>
        </p:xfrm>
        <a:graphic>
          <a:graphicData uri="http://schemas.openxmlformats.org/drawingml/2006/table">
            <a:tbl>
              <a:tblPr/>
              <a:tblGrid>
                <a:gridCol w="2651760"/>
                <a:gridCol w="1115568"/>
                <a:gridCol w="1115568"/>
                <a:gridCol w="1115568"/>
                <a:gridCol w="1115568"/>
                <a:gridCol w="1115568"/>
              </a:tblGrid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 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Metrics computed on the held-out 20% test set (7,255 bookings), random_state = 42.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57200" y="461772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46177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on every single metric — not just one — which is why it, not a single cherry-picked score, is the justified final model.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</a:t>
            </a:r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Visual Performance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Performance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46120" y="1298448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46120" y="173736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298448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81.2%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173736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Comparison — All Models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2514600"/>
          <a:ext cx="3931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75488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— All Models</a:t>
            </a:r>
            <a:endParaRPr lang="en-US" sz="11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4754880" y="2514600"/>
          <a:ext cx="39319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</a:t>
            </a:r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SHAP Model 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Model Explainability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438912"/>
          </a:xfrm>
          <a:prstGeom prst="roundRect">
            <a:avLst>
              <a:gd name="adj" fmla="val 10417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explains WHY the model made each prediction by quantifying how each feature pushes cancellation risk up or down.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Driving Cancellation Risk (SHAP Ranking)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411480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3500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2304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03320" y="2331720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3317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8992" y="2596896"/>
            <a:ext cx="3337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 by far — cancellation risk rises from 8.9% (0-7 days out) to 73.9% (180+ days out).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754880" y="2212848"/>
            <a:ext cx="411480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23500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76672" y="2304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per Room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2331720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23317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76672" y="2596896"/>
            <a:ext cx="3337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Higher-priced bookings show elevated cancellation risk — average €110.6 for cancelled vs €99.9 for completed stays.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411480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337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Requests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703320" y="331927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331927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" y="3584448"/>
            <a:ext cx="3337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protective — more special requests signal engagement and consistently lower cancellation risk.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754880" y="3200400"/>
            <a:ext cx="411480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892040" y="3337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76672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Guest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01000" y="331927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3319272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76672" y="3584448"/>
            <a:ext cx="3337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 — captures price sensitivity relative to group size, a strong composite signal.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457200" y="4187952"/>
            <a:ext cx="411480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4325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78992" y="4279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Date / Month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703320" y="430682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40" name="Text 38"/>
          <p:cNvSpPr/>
          <p:nvPr/>
        </p:nvSpPr>
        <p:spPr>
          <a:xfrm>
            <a:off x="3703320" y="430682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78992" y="4572000"/>
            <a:ext cx="3337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booking patterns modestly shift risk, reflecting calendar-driven demand shifts.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4754880" y="4187952"/>
            <a:ext cx="411480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/>
        </p:spPr>
      </p:sp>
      <p:sp>
        <p:nvSpPr>
          <p:cNvPr id="43" name="Shape 41"/>
          <p:cNvSpPr/>
          <p:nvPr/>
        </p:nvSpPr>
        <p:spPr>
          <a:xfrm>
            <a:off x="4892040" y="43251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76672" y="4279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 (Online)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001000" y="430682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</p:sp>
      <p:sp>
        <p:nvSpPr>
          <p:cNvPr id="47" name="Text 45"/>
          <p:cNvSpPr/>
          <p:nvPr/>
        </p:nvSpPr>
        <p:spPr>
          <a:xfrm>
            <a:off x="8001000" y="430682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76672" y="4572000"/>
            <a:ext cx="33375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bookings cancel at 36.5% vs 10.9% for Corporate — lower commitment at the point of booking.</a:t>
            </a:r>
            <a:endParaRPr lang="en-US" sz="930" dirty="0"/>
          </a:p>
        </p:txBody>
      </p:sp>
      <p:sp>
        <p:nvSpPr>
          <p:cNvPr id="49" name="Text 47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</a:t>
            </a:r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 &amp; Business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complete ML classification pipeline predicting hotel booking cancellations with 0.957 ROC-AUC and 90.5% accuracy. Random Forest was selected as the best model — winning on every metric, not just one — and SHAP confirmed Lead Time, Average Price and Special Requests as the top drivers of cancellation.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Implications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25420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high-risk bookings (long lead time, low engagement) for proactive outreach or overbooking buffers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457200" y="33649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🏷️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36499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Online-segment guests with confirmation nudges — this segment cancels at 36.5% vs 10.9% Corporate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457200" y="384962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84962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predicted risk to inform dynamic pricing and deposit policies on long-lead-time reservations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57200" y="433425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33425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retention perks for repeat guests — they cancel at just 1.7%, the most reliable segment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663440" y="28803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⚖️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8803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Cost-sensitive threshold tuning — weigh missed cancellations vs. false alarms by their real business cost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4663440" y="33649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36499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cross-validation and deeper residual/error analysis on the mid-lead-time uncertain zone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4663440" y="384962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84962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real-time API integrated with the property management / booking system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4663440" y="433425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33425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seasonal, holiday and local-event features to sharpen timing-based predictions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 Kumar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Reservation Cancellation Prediction — ML Classification Project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279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33472" y="37490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90.5%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33472" y="4279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37490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6864" y="4279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0256" y="37490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62436"/>
          </a:solidFill>
          <a:ln w="12700">
            <a:solidFill>
              <a:srgbClr val="24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0256" y="4279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2026-07-17T10:33:42Z</dcterms:created>
  <dcterms:modified xsi:type="dcterms:W3CDTF">2026-07-17T10:33:42Z</dcterms:modified>
</cp:coreProperties>
</file>